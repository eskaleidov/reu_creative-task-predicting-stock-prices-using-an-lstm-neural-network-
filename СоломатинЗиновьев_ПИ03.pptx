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3"/>
  </p:notesMasterIdLst>
  <p:handoutMasterIdLst>
    <p:handoutMasterId r:id="rId14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F2607F-EAB8-462D-9596-B11A1C51125F}" type="datetime1">
              <a:rPr lang="ru-RU" smtClean="0"/>
              <a:t>19.12.2025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0EC31D-9C0F-4EDB-9AC9-93AE84D7514D}" type="datetime1">
              <a:rPr lang="ru-RU" smtClean="0"/>
              <a:t>19.12.2025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48E6C3-8E12-426B-A56F-861F8B162AC6}" type="datetime1">
              <a:rPr lang="ru-RU" smtClean="0"/>
              <a:t>19.12.2025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13CF11-4D7C-4367-8D00-578223D03103}" type="datetime1">
              <a:rPr lang="ru-RU" smtClean="0"/>
              <a:t>19.12.2025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40FCE8-CB6C-4798-845F-C8260D76B307}" type="datetime1">
              <a:rPr lang="ru-RU" smtClean="0"/>
              <a:t>19.12.2025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C13A7E-4C64-47B0-B355-B165BE4012BA}" type="datetime1">
              <a:rPr lang="ru-RU" smtClean="0"/>
              <a:t>19.12.2025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1CA3B4-5CE4-4976-BBFE-4E91C7258FC5}" type="datetime1">
              <a:rPr lang="ru-RU" smtClean="0"/>
              <a:t>19.12.2025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 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316041-DA7D-4734-AA8C-761AB09393E2}" type="datetime1">
              <a:rPr lang="ru-RU" smtClean="0"/>
              <a:t>19.12.2025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92EF8B-D3DF-4216-96A1-1B1DE794B37A}" type="datetime1">
              <a:rPr lang="ru-RU" smtClean="0"/>
              <a:t>19.12.2025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09563768-3096-48CB-A41A-8D454362CCAD}" type="datetime1">
              <a:rPr lang="ru-RU" smtClean="0"/>
              <a:t>19.12.2025</a:t>
            </a:fld>
            <a:endParaRPr lang="en-US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0088EE-0E82-4198-BDFF-3B9755AA8919}" type="datetime1">
              <a:rPr lang="ru-RU" smtClean="0"/>
              <a:t>19.12.2025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323C2A-FDF4-456A-A556-14045268B55D}" type="datetime1">
              <a:rPr lang="ru-RU" smtClean="0"/>
              <a:t>19.12.2025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D5CFD7-CC7C-49C5-B221-A9E29F5846A0}" type="datetime1">
              <a:rPr lang="ru-RU" smtClean="0"/>
              <a:t>19.12.2025</a:t>
            </a:fld>
            <a:endParaRPr lang="en-US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6B9E6FA-8E94-487D-81C3-7EE9BB2FD23D}" type="datetime1">
              <a:rPr lang="ru-RU" smtClean="0"/>
              <a:t>19.12.2025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Прямоугольник 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Прямоугольник 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3991" y="871606"/>
            <a:ext cx="10158997" cy="1475013"/>
          </a:xfrm>
        </p:spPr>
        <p:txBody>
          <a:bodyPr rtlCol="0">
            <a:normAutofit/>
          </a:bodyPr>
          <a:lstStyle/>
          <a:p>
            <a:pPr algn="ctr" rtl="0"/>
            <a:r>
              <a:rPr lang="ru-RU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Прогнозирование стоимости акций с использованием нейронной сети LSTM</a:t>
            </a:r>
            <a:endParaRPr lang="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Прямоугольник 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Рисунок 5" descr="Крупный план логотипа&#10;&#10;Автоматически созданное описание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218225"/>
            <a:ext cx="12192000" cy="363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8682" y="0"/>
            <a:ext cx="4954635" cy="490444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Тема проекта и авторы</a:t>
            </a:r>
            <a:endParaRPr lang="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5EEB2A-95B5-6911-B125-27895989688C}"/>
              </a:ext>
            </a:extLst>
          </p:cNvPr>
          <p:cNvSpPr txBox="1"/>
          <p:nvPr/>
        </p:nvSpPr>
        <p:spPr>
          <a:xfrm>
            <a:off x="353514" y="1110706"/>
            <a:ext cx="1021021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Тема проекта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Прогнозирование стоимости акций с использованием нейронной сети LSTM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Авторы проекта:</a:t>
            </a:r>
          </a:p>
          <a:p>
            <a:pPr lvl="1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Соломатин Иван Петрович —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Manager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Зиновьев Максим Александрович —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технологии:</a:t>
            </a:r>
          </a:p>
          <a:p>
            <a:pPr lvl="1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TensorFlow/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LSTM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Google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HTML/JavaScript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4703AFF-0E18-A2F3-9185-215117BFD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7732" y="73227"/>
            <a:ext cx="4156536" cy="39159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r>
              <a:rPr lang="ru-RU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проекта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30F82D-5F43-0092-CF0A-87EEEBE67800}"/>
              </a:ext>
            </a:extLst>
          </p:cNvPr>
          <p:cNvSpPr txBox="1"/>
          <p:nvPr/>
        </p:nvSpPr>
        <p:spPr>
          <a:xfrm>
            <a:off x="381107" y="960000"/>
            <a:ext cx="6156051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тема важна и актуальна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•Финансовые рынки являются сложными нелинейными временными рядами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•Нейронные сети способны выявлять скрытые зависимости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LSTM эффективно работает с долгосрочными временными зависимостями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Классические методы плохо учитывают долгосрочные зависимости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Используется в трейдинге, риск-менеджменте</a:t>
            </a:r>
          </a:p>
          <a:p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Некоторые аналоги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ARIMA, SARIMA —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линейные модели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GRU, CNN-LSTM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Transformer-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подходы (сложнее и тяжелее)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7714EEB-6217-35CE-15BA-F535FEE02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158" y="2582743"/>
            <a:ext cx="5525428" cy="3315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AE6B1E-A6B6-D656-F839-3EA10EA000EC}"/>
              </a:ext>
            </a:extLst>
          </p:cNvPr>
          <p:cNvSpPr txBox="1"/>
          <p:nvPr/>
        </p:nvSpPr>
        <p:spPr>
          <a:xfrm>
            <a:off x="6525019" y="5767195"/>
            <a:ext cx="52858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ARIMA (</a:t>
            </a:r>
            <a:r>
              <a:rPr lang="en-US" sz="11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AutoRegressive</a:t>
            </a:r>
            <a:r>
              <a:rPr lang="en-US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Integrated Moving Average)</a:t>
            </a: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014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ED1C0D-4607-8BD1-232A-81C3B9E94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7617" y="0"/>
            <a:ext cx="4736766" cy="48126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нейросети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A390BE-8532-FC69-3FCF-D2D84BB388EA}"/>
              </a:ext>
            </a:extLst>
          </p:cNvPr>
          <p:cNvSpPr txBox="1"/>
          <p:nvPr/>
        </p:nvSpPr>
        <p:spPr>
          <a:xfrm>
            <a:off x="409074" y="1026694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 сети: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Рекуррентная нейронная сеть 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LSTM)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модели: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Входной слой — временное окно цен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слой — 50 нейронов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— 0.2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LSTM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слой — 50 нейронов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(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выходной слой) — 1 нейрон</a:t>
            </a:r>
          </a:p>
          <a:p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(TensorFlow backend)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F3A95D-3208-EA71-7591-639CEE86E1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685" b="44305"/>
          <a:stretch/>
        </p:blipFill>
        <p:spPr>
          <a:xfrm>
            <a:off x="5401732" y="2862894"/>
            <a:ext cx="6790268" cy="113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35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E980667D-7A4A-6BBC-57D1-ECEACF8C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157" y="-68572"/>
            <a:ext cx="5359685" cy="56295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Гиперпараметры нейросети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B1ED0E-8DF1-0D51-5540-BAD3E677A5CE}"/>
              </a:ext>
            </a:extLst>
          </p:cNvPr>
          <p:cNvSpPr txBox="1"/>
          <p:nvPr/>
        </p:nvSpPr>
        <p:spPr>
          <a:xfrm>
            <a:off x="416283" y="1029846"/>
            <a:ext cx="511824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параметры обучения: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Функции активации: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LSTM: tanh, sigmoid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Оптимизатор: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потерь: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Squared Error (MSE)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эпох: 50–100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32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Dropout: 0.2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оценки качества: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MAPE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R²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Рисунок 13" descr="Изображение выглядит как текст, снимок экрана, График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0A292CF-C01A-48C8-8C87-13E5F6E59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389" y="914400"/>
            <a:ext cx="5986284" cy="458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254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E980667D-7A4A-6BBC-57D1-ECEACF8C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157" y="-62502"/>
            <a:ext cx="5359685" cy="562958"/>
          </a:xfrm>
        </p:spPr>
        <p:txBody>
          <a:bodyPr>
            <a:normAutofit/>
          </a:bodyPr>
          <a:lstStyle/>
          <a:p>
            <a:pPr algn="ctr"/>
            <a:r>
              <a:rPr lang="ru-RU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датасета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B1ED0E-8DF1-0D51-5540-BAD3E677A5CE}"/>
              </a:ext>
            </a:extLst>
          </p:cNvPr>
          <p:cNvSpPr txBox="1"/>
          <p:nvPr/>
        </p:nvSpPr>
        <p:spPr>
          <a:xfrm>
            <a:off x="472431" y="1029846"/>
            <a:ext cx="511824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 данных: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Исторические данные котировок акций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Обработка и обучение — Google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данных: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Используется цена закрытия (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Нормализация данных (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MinMaxScaler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Формирование временных окон</a:t>
            </a:r>
          </a:p>
          <a:p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 выборки: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Обучающая — 80%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Тестовая — 20%</a:t>
            </a:r>
          </a:p>
        </p:txBody>
      </p:sp>
      <p:pic>
        <p:nvPicPr>
          <p:cNvPr id="4" name="Рисунок 3" descr="Изображение выглядит как текст, снимок экрана, График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7B257FB-13FE-249B-EC10-CA8B19E03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868" y="1403351"/>
            <a:ext cx="5565947" cy="428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07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E980667D-7A4A-6BBC-57D1-ECEACF8C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1605" y="-96070"/>
            <a:ext cx="6088790" cy="562958"/>
          </a:xfrm>
        </p:spPr>
        <p:txBody>
          <a:bodyPr>
            <a:normAutofit/>
          </a:bodyPr>
          <a:lstStyle/>
          <a:p>
            <a:pPr algn="ctr"/>
            <a:r>
              <a:rPr lang="ru-RU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нейросети</a:t>
            </a:r>
          </a:p>
        </p:txBody>
      </p:sp>
      <p:pic>
        <p:nvPicPr>
          <p:cNvPr id="13" name="Рисунок 12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66F8C16-E2E9-9276-B077-36FB53EE4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31" y="1563548"/>
            <a:ext cx="3101609" cy="278916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D1163E9-30DF-3DD4-EFEB-979A39559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915" y="680804"/>
            <a:ext cx="7692190" cy="4554649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текст, Шрифт, снимок экрана, Цвет электр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A6C0FED-BA1E-8102-7059-CA86602ACC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59" y="5449370"/>
            <a:ext cx="9280358" cy="135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64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линия, диаграмма, Граф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A240A7C-1310-13CE-B969-81176EEF1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031" y="178895"/>
            <a:ext cx="8461628" cy="3396121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диаграмма, График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1F45604-CEEB-49EF-78C6-19B48BBB2D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031" y="3575016"/>
            <a:ext cx="8461628" cy="316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2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E980667D-7A4A-6BBC-57D1-ECEACF8C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157" y="-70524"/>
            <a:ext cx="5359685" cy="562958"/>
          </a:xfrm>
        </p:spPr>
        <p:txBody>
          <a:bodyPr>
            <a:normAutofit/>
          </a:bodyPr>
          <a:lstStyle/>
          <a:p>
            <a:pPr algn="ctr"/>
            <a:r>
              <a:rPr lang="ru-RU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Реализованные алгоритмы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B1ED0E-8DF1-0D51-5540-BAD3E677A5CE}"/>
              </a:ext>
            </a:extLst>
          </p:cNvPr>
          <p:cNvSpPr txBox="1"/>
          <p:nvPr/>
        </p:nvSpPr>
        <p:spPr>
          <a:xfrm>
            <a:off x="456388" y="1110057"/>
            <a:ext cx="471719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проекта реализованы: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LSTM для прогнозирования временных рядов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Масштабирование данных (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MinMaxScaler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Формирование временных окон (Time Series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Windowing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Обратное масштабирование прогнозов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Метрики оценки качества модели (MAE, MAPE, R²)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D81A75-85B3-4389-0A13-FF85EF23D0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52" r="17276" b="15615"/>
          <a:stretch/>
        </p:blipFill>
        <p:spPr>
          <a:xfrm>
            <a:off x="6747028" y="602499"/>
            <a:ext cx="3227895" cy="598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582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E980667D-7A4A-6BBC-57D1-ECEACF8C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9731" y="-62503"/>
            <a:ext cx="5992538" cy="56295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и дальнейшая доработка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B1ED0E-8DF1-0D51-5540-BAD3E677A5CE}"/>
              </a:ext>
            </a:extLst>
          </p:cNvPr>
          <p:cNvSpPr txBox="1"/>
          <p:nvPr/>
        </p:nvSpPr>
        <p:spPr>
          <a:xfrm>
            <a:off x="2161267" y="1575278"/>
            <a:ext cx="786946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Выводы:</a:t>
            </a:r>
            <a:b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• LSTM показала высокую точность прогнозирования</a:t>
            </a:r>
            <a:b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• Модель устойчива к шуму финансовых данных</a:t>
            </a:r>
            <a:b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• Архитектура подходит для анализа временных рядов</a:t>
            </a:r>
            <a:b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развития:</a:t>
            </a:r>
            <a:b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• Добавление технических индикаторов (RSI, MACD)</a:t>
            </a:r>
            <a:b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• Использование GRU или 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b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• Подключение реальных API данных</a:t>
            </a:r>
            <a:b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• Реализация серверной части (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235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C2E17-CF3C-6EF4-F731-69772E03C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Ссылка на репозиторий</a:t>
            </a:r>
            <a:br>
              <a:rPr lang="ru-RU" dirty="0"/>
            </a:b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4C87631-F52E-1723-1725-B85DD7A85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5316041-DA7D-4734-AA8C-761AB09393E2}" type="datetime1">
              <a:rPr lang="ru-RU" smtClean="0"/>
              <a:t>19.12.2025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3673B-B540-8084-A16D-697FA3C51E04}"/>
              </a:ext>
            </a:extLst>
          </p:cNvPr>
          <p:cNvSpPr txBox="1"/>
          <p:nvPr/>
        </p:nvSpPr>
        <p:spPr>
          <a:xfrm>
            <a:off x="2244617" y="2889609"/>
            <a:ext cx="72129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https://github.com/Eskaleidov/REU_Creative-task-Predicting-Stock-Prices-Using-an-LSTM-Neural-Network-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4011162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8_TF33552983" id="{160FF37C-0DDC-4D2E-AEAD-253EF6364DF1}" vid="{EC99DBC3-C858-4F3A-82DD-48D686A36D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{FC161B14-C42C-4B35-B6A4-CF284491F7D3}TF201209c3-d067-44f9-a26f-c8f216c44313c92a774a_win32-f353c8cd8117</Template>
  <TotalTime>526</TotalTime>
  <Words>485</Words>
  <Application>Microsoft Office PowerPoint</Application>
  <PresentationFormat>Широкоэкранный</PresentationFormat>
  <Paragraphs>82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Calibri</vt:lpstr>
      <vt:lpstr>Corbel</vt:lpstr>
      <vt:lpstr>Franklin Gothic Book</vt:lpstr>
      <vt:lpstr>Franklin Gothic Demi</vt:lpstr>
      <vt:lpstr>Times New Roman</vt:lpstr>
      <vt:lpstr>Wingdings 2</vt:lpstr>
      <vt:lpstr>ДивидендVTI</vt:lpstr>
      <vt:lpstr>Прогнозирование стоимости акций с использованием нейронной сети LSTM</vt:lpstr>
      <vt:lpstr>Тема проекта и авторы</vt:lpstr>
      <vt:lpstr>Актуальность проекта</vt:lpstr>
      <vt:lpstr>Архитектура нейросети</vt:lpstr>
      <vt:lpstr>Гиперпараметры нейросети</vt:lpstr>
      <vt:lpstr>Описание датасета</vt:lpstr>
      <vt:lpstr>Демонстрация работы нейросети</vt:lpstr>
      <vt:lpstr>Презентация PowerPoint</vt:lpstr>
      <vt:lpstr>Реализованные алгоритмы</vt:lpstr>
      <vt:lpstr>Выводы и дальнейшая доработка</vt:lpstr>
      <vt:lpstr>Ссылка на репозиторий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</dc:creator>
  <cp:lastModifiedBy>Office</cp:lastModifiedBy>
  <cp:revision>5</cp:revision>
  <dcterms:created xsi:type="dcterms:W3CDTF">2025-12-17T07:52:09Z</dcterms:created>
  <dcterms:modified xsi:type="dcterms:W3CDTF">2025-12-19T10:45:00Z</dcterms:modified>
</cp:coreProperties>
</file>